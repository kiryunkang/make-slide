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243B99">
              <a:alpha val="60000"/>
            </a:srgbClr>
          </a:solidFill>
          <a:ln w="12700">
            <a:solidFill>
              <a:srgbClr val="243B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4114800" cy="4114800"/>
          </a:xfrm>
          <a:prstGeom prst="ellipse">
            <a:avLst/>
          </a:prstGeom>
          <a:solidFill>
            <a:srgbClr val="162D7A">
              <a:alpha val="60000"/>
            </a:srgbClr>
          </a:solidFill>
          <a:ln w="12700">
            <a:solidFill>
              <a:srgbClr val="162D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B9FE8"/>
                </a:solidFill>
              </a:rPr>
              <a:t>다우리AX  |  다;담 多談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AI 국회 속기 시스템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ABFFF"/>
                </a:solidFill>
              </a:rPr>
              <a:t>사용자 교육자료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10972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54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BEE"/>
                </a:solidFill>
              </a:rPr>
              <a:t>실시간 속기  ·  AI 교정  ·  공식 회의록  ·  추가 보고서  ·  음성 싱크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FC0"/>
                </a:solidFill>
              </a:rPr>
              <a:t>고용노동부  지능정보화기획팀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다우리AX  |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다;담</a:t>
            </a:r>
            <a:pPr indent="0" marL="0">
              <a:buNone/>
            </a:pPr>
            <a:r>
              <a:rPr lang="en-US" sz="1100" dirty="0">
                <a:solidFill>
                  <a:srgbClr val="AABFFF"/>
                </a:solidFill>
              </a:rPr>
              <a:t> 多談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128016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ABFFF"/>
                </a:solidFill>
              </a:rPr>
              <a:t>시스템 한눈에 보기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B9FE8"/>
                </a:solidFill>
              </a:rPr>
              <a:t>고용노동부  지능정보화기획팀  ALL RIGHT RESERVED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전체 업무 흐름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1247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음성 수집부터 문서 산출까지 한 번에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572768"/>
            <a:ext cx="1234440" cy="960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8600" y="16459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🎙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" y="20299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실시간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음성 수집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243584" y="1453896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147218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472184" y="2029968"/>
            <a:ext cx="219456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64208" y="1572768"/>
            <a:ext cx="1234440" cy="96012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664208" y="16459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64208" y="20299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원문 전사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(실시간 속기)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79192" y="1453896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79192" y="147218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907792" y="2029968"/>
            <a:ext cx="219456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99816" y="1572768"/>
            <a:ext cx="1234440" cy="96012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099816" y="16459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099816" y="20299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 1차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교정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0" y="1453896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147218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343400" y="2029968"/>
            <a:ext cx="219456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35424" y="1572768"/>
            <a:ext cx="1234440" cy="960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35424" y="16459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535424" y="20299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공식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회의록 생성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50408" y="1453896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50408" y="147218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779008" y="2029968"/>
            <a:ext cx="219456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71032" y="1572768"/>
            <a:ext cx="1234440" cy="96012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971032" y="16459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971032" y="20299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추가 보고서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생성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86016" y="1453896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86016" y="147218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214616" y="2029968"/>
            <a:ext cx="219456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06640" y="1572768"/>
            <a:ext cx="1234440" cy="9601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406640" y="16459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406640" y="20299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저장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내보내기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421624" y="1453896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21624" y="147218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65760" y="2761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주요 산출물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" y="3035808"/>
            <a:ext cx="166420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38328" y="31089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공식 회의록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38328" y="33467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최종 기준 문서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993392" y="3035808"/>
            <a:ext cx="1664208" cy="658368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2103120" y="31089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검수용 축약본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103120" y="33467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검토 포인트 요약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758184" y="3035808"/>
            <a:ext cx="1664208" cy="65836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867912" y="31089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쟁점 요약본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867912" y="33467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주요 쟁점 정리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522976" y="3035808"/>
            <a:ext cx="1664208" cy="658368"/>
          </a:xfrm>
          <a:prstGeom prst="rect">
            <a:avLst/>
          </a:prstGeom>
          <a:solidFill>
            <a:srgbClr val="FD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5632704" y="31089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대외 공유본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632704" y="33467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외부 배포용 요약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287768" y="3035808"/>
            <a:ext cx="1664208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7397496" y="31089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음성 기록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397496" y="33467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원본 오디오 파일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다우리AX  |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다;담</a:t>
            </a:r>
            <a:pPr indent="0" marL="0">
              <a:buNone/>
            </a:pPr>
            <a:r>
              <a:rPr lang="en-US" sz="1100" dirty="0">
                <a:solidFill>
                  <a:srgbClr val="AABFFF"/>
                </a:solidFill>
              </a:rPr>
              <a:t> 多談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128016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ABFFF"/>
                </a:solidFill>
              </a:rPr>
              <a:t>화면 구성 | 대시보드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B9FE8"/>
                </a:solidFill>
              </a:rPr>
              <a:t>고용노동부  지능정보화기획팀  ALL RIGHT RESERVED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대시보드 — 시작 화면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1247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시스템 진입 후 가장 먼저 만나는 화면입니다.</a:t>
            </a:r>
            <a:endParaRPr lang="en-US" sz="1100" dirty="0"/>
          </a:p>
        </p:txBody>
      </p:sp>
      <p:pic>
        <p:nvPicPr>
          <p:cNvPr id="9" name="Image 0" descr="/home/claude/img_01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70432"/>
            <a:ext cx="5669280" cy="3694176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pic>
      <p:sp>
        <p:nvSpPr>
          <p:cNvPr id="10" name="Shape 7"/>
          <p:cNvSpPr/>
          <p:nvPr/>
        </p:nvSpPr>
        <p:spPr>
          <a:xfrm>
            <a:off x="6199632" y="749808"/>
            <a:ext cx="45720" cy="64008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45352" y="749808"/>
            <a:ext cx="2377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27648" y="78638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① 새로 만들기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327648" y="100584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신규 속기 세션 시작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199632" y="1444752"/>
            <a:ext cx="45720" cy="64008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45352" y="1444752"/>
            <a:ext cx="2377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27648" y="148132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② 프로젝트 열기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327648" y="17007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기존 작업 파일 불러오기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199632" y="2139696"/>
            <a:ext cx="45720" cy="64008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45352" y="2139696"/>
            <a:ext cx="2377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327648" y="217627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③ 지난 작업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327648" y="239572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최근 완료된 속기록 검토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199632" y="2834640"/>
            <a:ext cx="45720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45352" y="2834640"/>
            <a:ext cx="2377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327648" y="287121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④ 환경 설정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327648" y="309067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AI 모델 및 마이크 설정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199632" y="3529584"/>
            <a:ext cx="45720" cy="6400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45352" y="3529584"/>
            <a:ext cx="2377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327648" y="356616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⑤ 의사중계 일정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327648" y="378561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국회 일정 자동 조회·연동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199632" y="4160520"/>
            <a:ext cx="45720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245352" y="4160520"/>
            <a:ext cx="2377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327648" y="419709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⑥ 다크 모드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327648" y="441655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화면 테마 전환 (우측 하단)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다우리AX  |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다;담</a:t>
            </a:r>
            <a:pPr indent="0" marL="0">
              <a:buNone/>
            </a:pPr>
            <a:r>
              <a:rPr lang="en-US" sz="1100" dirty="0">
                <a:solidFill>
                  <a:srgbClr val="AABFFF"/>
                </a:solidFill>
              </a:rPr>
              <a:t> 多談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128016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ABFFF"/>
                </a:solidFill>
              </a:rPr>
              <a:t>화면 구성 | 새 속기 세션 시작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B9FE8"/>
                </a:solidFill>
              </a:rPr>
              <a:t>고용노동부  지능정보화기획팀  ALL RIGHT RESERVED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새 속기 세션 시작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1247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대시보드에서 '새로 만들기'를 누르면 나타납니다.</a:t>
            </a:r>
            <a:endParaRPr lang="en-US" sz="1100" dirty="0"/>
          </a:p>
        </p:txBody>
      </p:sp>
      <p:pic>
        <p:nvPicPr>
          <p:cNvPr id="9" name="Image 0" descr="/home/claude/img_02_new_s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1143000"/>
            <a:ext cx="3383280" cy="2770632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pic>
      <p:sp>
        <p:nvSpPr>
          <p:cNvPr id="10" name="Shape 7"/>
          <p:cNvSpPr/>
          <p:nvPr/>
        </p:nvSpPr>
        <p:spPr>
          <a:xfrm>
            <a:off x="256032" y="1481328"/>
            <a:ext cx="292608" cy="292608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" y="149961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" y="14813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입력 방식 선택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16642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직접 입력 또는 일정에서 선택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56032" y="1993392"/>
            <a:ext cx="292608" cy="292608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6032" y="20116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0080" y="19933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회의명 입력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0080" y="21762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속기록 파일명·회의록 제목에 사용됨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56032" y="2505456"/>
            <a:ext cx="292608" cy="292608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032" y="252374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40080" y="250545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회의 일자 입력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0080" y="26883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산출물 날짜 관리 기준이 됨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56032" y="3017520"/>
            <a:ext cx="292608" cy="292608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56032" y="303580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40080" y="30175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속기 시작 클릭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40080" y="32004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작업 공간으로 이동 후 녹음 준비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943600" y="1417320"/>
            <a:ext cx="2880360" cy="109728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080760" y="15087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⚠️  입력 정보는 정확하게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080760" y="176479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</a:rPr>
              <a:t>회의명과 일자는 속기록 파일명과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</a:rPr>
              <a:t>회의록 제목으로 그대로 사용됩니다.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</a:rPr>
              <a:t>나중에 변경이 어려우므로 정확히 입력하세요.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43600" y="2697480"/>
            <a:ext cx="288036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080760" y="27889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</a:rPr>
              <a:t>💡  일정에서 선택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080760" y="302666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대시보드의 국회 의사중계 일정과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연동하면 회의 정보를 자동으로 불러올 수 있습니다.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다우리AX  |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다;담</a:t>
            </a:r>
            <a:pPr indent="0" marL="0">
              <a:buNone/>
            </a:pPr>
            <a:r>
              <a:rPr lang="en-US" sz="1100" dirty="0">
                <a:solidFill>
                  <a:srgbClr val="AABFFF"/>
                </a:solidFill>
              </a:rPr>
              <a:t> 多談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128016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ABFFF"/>
                </a:solidFill>
              </a:rPr>
              <a:t>화면 구성 | 작업 공간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B9FE8"/>
                </a:solidFill>
              </a:rPr>
              <a:t>고용노동부  지능정보화기획팀  ALL RIGHT RESERVED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작업 공간 — 대기 상태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1247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속기 시작 전 각 영역을 확인합니다.</a:t>
            </a:r>
            <a:endParaRPr lang="en-US" sz="1100" dirty="0"/>
          </a:p>
        </p:txBody>
      </p:sp>
      <p:pic>
        <p:nvPicPr>
          <p:cNvPr id="9" name="Image 0" descr="/home/claude/img_03_workspace_id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70432"/>
            <a:ext cx="5669280" cy="3694176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pic>
      <p:sp>
        <p:nvSpPr>
          <p:cNvPr id="10" name="Shape 7"/>
          <p:cNvSpPr/>
          <p:nvPr/>
        </p:nvSpPr>
        <p:spPr>
          <a:xfrm>
            <a:off x="6199632" y="777240"/>
            <a:ext cx="45720" cy="6400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45352" y="777240"/>
            <a:ext cx="2377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27648" y="81381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① LIVE STATUS 표시줄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327648" y="103327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현재 상태·경과 시간 실시간 표시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199632" y="1481328"/>
            <a:ext cx="45720" cy="64008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45352" y="1481328"/>
            <a:ext cx="2377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27648" y="151790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② 속기 시작 버튼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327648" y="173736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클릭 시 마이크 녹음·전사 시작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199632" y="2185416"/>
            <a:ext cx="45720" cy="64008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45352" y="2185416"/>
            <a:ext cx="2377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327648" y="222199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③ 용어 사전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327648" y="244144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인명·기관명 등 전문 용어 관리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199632" y="2889504"/>
            <a:ext cx="45720" cy="64008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45352" y="2889504"/>
            <a:ext cx="2377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327648" y="292608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④ 음성 재생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327648" y="314553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녹음된 음성 재생 패널 열기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199632" y="3593592"/>
            <a:ext cx="45720" cy="6400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45352" y="3593592"/>
            <a:ext cx="2377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327648" y="363016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⑤ 회의록 버튼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327648" y="384962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공식 회의록·추가 보고서 접근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199632" y="4206240"/>
            <a:ext cx="45720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245352" y="4206240"/>
            <a:ext cx="2377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327648" y="424281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⑥ Whisper 원문 | 1차 교정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327648" y="446227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좌·우 2열로 패널 표시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다우리AX  |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다;담</a:t>
            </a:r>
            <a:pPr indent="0" marL="0">
              <a:buNone/>
            </a:pPr>
            <a:r>
              <a:rPr lang="en-US" sz="1100" dirty="0">
                <a:solidFill>
                  <a:srgbClr val="AABFFF"/>
                </a:solidFill>
              </a:rPr>
              <a:t> 多談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128016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ABFFF"/>
                </a:solidFill>
              </a:rPr>
              <a:t>핵심 기능 | 실시간 속기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B9FE8"/>
                </a:solidFill>
              </a:rPr>
              <a:t>고용노동부  지능정보화기획팀  ALL RIGHT RESERVED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실시간 속기 진행 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1247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▶ 속기 시작 클릭 후 음성이 실시간으로 텍스트로 변환됩니다.</a:t>
            </a:r>
            <a:endParaRPr lang="en-US" sz="1100" dirty="0"/>
          </a:p>
        </p:txBody>
      </p:sp>
      <p:pic>
        <p:nvPicPr>
          <p:cNvPr id="9" name="Image 0" descr="/home/claude/img_04_recor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70432"/>
            <a:ext cx="5852160" cy="29718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pic>
      <p:sp>
        <p:nvSpPr>
          <p:cNvPr id="10" name="Shape 7"/>
          <p:cNvSpPr/>
          <p:nvPr/>
        </p:nvSpPr>
        <p:spPr>
          <a:xfrm>
            <a:off x="6291072" y="804672"/>
            <a:ext cx="4572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36792" y="804672"/>
            <a:ext cx="2377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19088" y="84124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● LIVE 상태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19088" y="106070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녹음 중 빨간 점·'실시간 속기 진행 중' 표시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291072" y="1499616"/>
            <a:ext cx="45720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36792" y="1499616"/>
            <a:ext cx="2377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19088" y="153619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경과 시간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19088" y="175564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속기 시작 후 누적 시간 카운트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291072" y="2212848"/>
            <a:ext cx="4572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36792" y="2212848"/>
            <a:ext cx="2377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419088" y="224942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■ 중단 버튼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419088" y="24688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클릭 시 녹음 정지·회의록 생성 준비 상태로 전환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291072" y="2907792"/>
            <a:ext cx="45720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36792" y="2907792"/>
            <a:ext cx="2377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419088" y="294436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마이크 입력 상태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419088" y="316382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정상 수신 여부를 상태 텍스트로 확인 가능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274320" y="4279392"/>
            <a:ext cx="859536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43159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8A"/>
                </a:solidFill>
              </a:rPr>
              <a:t>💡  속기 중 확인 포인트:  속기가 정상 수신되는지  /  교정 결과가 자연스러운지  /  마이크 입력 상태가 안정적인지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다우리AX  |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다;담</a:t>
            </a:r>
            <a:pPr indent="0" marL="0">
              <a:buNone/>
            </a:pPr>
            <a:r>
              <a:rPr lang="en-US" sz="1100" dirty="0">
                <a:solidFill>
                  <a:srgbClr val="AABFFF"/>
                </a:solidFill>
              </a:rPr>
              <a:t> 多談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128016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ABFFF"/>
                </a:solidFill>
              </a:rPr>
              <a:t>핵심 기능 | 패널 내 검색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B9FE8"/>
                </a:solidFill>
              </a:rPr>
              <a:t>고용노동부  지능정보화기획팀  ALL RIGHT RESERVED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패널 내 검색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1247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각 속기 패널에서 원하는 발언을 빠르게 찾을 수 있습니다.</a:t>
            </a:r>
            <a:endParaRPr lang="en-US" sz="1100" dirty="0"/>
          </a:p>
        </p:txBody>
      </p:sp>
      <p:pic>
        <p:nvPicPr>
          <p:cNvPr id="9" name="Image 0" descr="/home/claude/img_05_search.png">    </p:cNvPr>
          <p:cNvPicPr>
            <a:picLocks noChangeAspect="1"/>
          </p:cNvPicPr>
          <p:nvPr/>
        </p:nvPicPr>
        <p:blipFill>
          <a:blip r:embed="rId1"/>
          <a:srcRect l="-15000" r="-15000" t="0" b="0"/>
          <a:stretch/>
        </p:blipFill>
        <p:spPr>
          <a:xfrm>
            <a:off x="685800" y="1143000"/>
            <a:ext cx="4114800" cy="35661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pic>
      <p:sp>
        <p:nvSpPr>
          <p:cNvPr id="10" name="Shape 7"/>
          <p:cNvSpPr/>
          <p:nvPr/>
        </p:nvSpPr>
        <p:spPr>
          <a:xfrm>
            <a:off x="5074920" y="1170432"/>
            <a:ext cx="374904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166360" y="1408176"/>
            <a:ext cx="274320" cy="274320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66360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532120" y="124358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검색 버튼 클릭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532120" y="146304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패널 헤더의 [검색] 버튼을 클릭하면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검색 바가 바로 열립니다.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074920" y="2084832"/>
            <a:ext cx="374904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166360" y="2322576"/>
            <a:ext cx="274320" cy="274320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66360" y="2322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532120" y="215798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검색어 입력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532120" y="237744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입력한 텍스트와 일치하는 항목을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패널 안에서 모두 하이라이트 표시합니다.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074920" y="2999232"/>
            <a:ext cx="374904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166360" y="3236976"/>
            <a:ext cx="274320" cy="274320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6636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532120" y="307238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이전 / 다음 탐색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532120" y="329184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버튼으로 결과를 순서대로 이동합니다.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현재 위치와 전체 수를 함께 표시 (예: 3 / 7)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074920" y="3913632"/>
            <a:ext cx="374904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166360" y="4151376"/>
            <a:ext cx="274320" cy="274320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66360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532120" y="398678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지우기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532120" y="420624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검색어를 초기화하고 하이라이트를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모두 해제합니다.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다우리AX  |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다;담</a:t>
            </a:r>
            <a:pPr indent="0" marL="0">
              <a:buNone/>
            </a:pPr>
            <a:r>
              <a:rPr lang="en-US" sz="1100" dirty="0">
                <a:solidFill>
                  <a:srgbClr val="AABFFF"/>
                </a:solidFill>
              </a:rPr>
              <a:t> 多談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128016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ABFFF"/>
                </a:solidFill>
              </a:rPr>
              <a:t>핵심 기능 | 키워드 알림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B9FE8"/>
                </a:solidFill>
              </a:rPr>
              <a:t>고용노동부  지능정보화기획팀  ALL RIGHT RESERVED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키워드 알림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1247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미리 등록한 단어가 속기에 등장하면 자동으로 알림을 표시합니다.</a:t>
            </a:r>
            <a:endParaRPr lang="en-US" sz="1100" dirty="0"/>
          </a:p>
        </p:txBody>
      </p:sp>
      <p:pic>
        <p:nvPicPr>
          <p:cNvPr id="9" name="Image 0" descr="/home/claude/img_06_keyword.png">    </p:cNvPr>
          <p:cNvPicPr>
            <a:picLocks noChangeAspect="1"/>
          </p:cNvPicPr>
          <p:nvPr/>
        </p:nvPicPr>
        <p:blipFill>
          <a:blip r:embed="rId1"/>
          <a:srcRect l="-875" r="-875" t="0" b="0"/>
          <a:stretch/>
        </p:blipFill>
        <p:spPr>
          <a:xfrm>
            <a:off x="320040" y="1143000"/>
            <a:ext cx="4297680" cy="36576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pic>
      <p:sp>
        <p:nvSpPr>
          <p:cNvPr id="10" name="Shape 7"/>
          <p:cNvSpPr/>
          <p:nvPr/>
        </p:nvSpPr>
        <p:spPr>
          <a:xfrm>
            <a:off x="4892040" y="1170432"/>
            <a:ext cx="393192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83480" y="1408176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83480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349240" y="124358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키워드 버튼 클릭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349240" y="146304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패널 헤더 [키워드] 버튼 클릭 시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키워드 설정 바가 열립니다.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892040" y="2084832"/>
            <a:ext cx="393192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983480" y="2322576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83480" y="2322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349240" y="215798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키워드 입력 &amp; 저장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349240" y="237744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쉼표(,)로 구분해 복수 등록 가능.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[저장] 클릭 시 즉시 적용됩니다.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892040" y="2999232"/>
            <a:ext cx="393192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983480" y="3236976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8348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349240" y="307238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자동 강조 표시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349240" y="329184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등록 키워드 포함 카드에 🔔 아이콘과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주황 테두리가 자동으로 표시됩니다.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892040" y="3913632"/>
            <a:ext cx="393192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983480" y="4151376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83480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349240" y="398678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감지 건수 뱃지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349240" y="420624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[키워드] 버튼에 숫자 뱃지로 감지 수 실시간 표시.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모든 패널에 동시 적용됩니다.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다우리AX  |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다;담</a:t>
            </a:r>
            <a:pPr indent="0" marL="0">
              <a:buNone/>
            </a:pPr>
            <a:r>
              <a:rPr lang="en-US" sz="1100" dirty="0">
                <a:solidFill>
                  <a:srgbClr val="AABFFF"/>
                </a:solidFill>
              </a:rPr>
              <a:t> 多談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128016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ABFFF"/>
                </a:solidFill>
              </a:rPr>
              <a:t>핵심 기능 | 음성 플레이어 · 3단 싱크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B9FE8"/>
                </a:solidFill>
              </a:rPr>
              <a:t>고용노동부  지능정보화기획팀  ALL RIGHT RESERVED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음성 플레이어 · 패널 3단 싱크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1247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타임스탬프 클릭 하나로 음성·원문·교정 패널이 동시에 이동합니다.</a:t>
            </a:r>
            <a:endParaRPr lang="en-US" sz="1100" dirty="0"/>
          </a:p>
        </p:txBody>
      </p:sp>
      <p:pic>
        <p:nvPicPr>
          <p:cNvPr id="9" name="Image 0" descr="/home/claude/img_07_syn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70432"/>
            <a:ext cx="8595360" cy="2706624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pic>
      <p:sp>
        <p:nvSpPr>
          <p:cNvPr id="10" name="Shape 7"/>
          <p:cNvSpPr/>
          <p:nvPr/>
        </p:nvSpPr>
        <p:spPr>
          <a:xfrm>
            <a:off x="274320" y="4005072"/>
            <a:ext cx="2761488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84048" y="407822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🎧  음성 플레이어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84048" y="4325112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타임스탬프 클릭 시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해당 시점으로 자동 이동·재생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172968" y="4005072"/>
            <a:ext cx="2761488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282696" y="407822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📌  Whisper 원문 패널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282696" y="4325112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같은 타임스탬프 카드로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자동 스크롤 + 순간 하이라이트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071616" y="4005072"/>
            <a:ext cx="2761488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181344" y="407822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✨  1차 실시간 교정 패널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181344" y="4325112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원문과 동일 시점 카드로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동시 이동·하이라이트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063240" y="4334256"/>
            <a:ext cx="219456" cy="54864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961888" y="4334256"/>
            <a:ext cx="219456" cy="54864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다우리AX  |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다;담</a:t>
            </a:r>
            <a:pPr indent="0" marL="0">
              <a:buNone/>
            </a:pPr>
            <a:r>
              <a:rPr lang="en-US" sz="1100" dirty="0">
                <a:solidFill>
                  <a:srgbClr val="AABFFF"/>
                </a:solidFill>
              </a:rPr>
              <a:t> 多談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128016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ABFFF"/>
                </a:solidFill>
              </a:rPr>
              <a:t>핵심 기능 | 공식 회의록 생성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B9FE8"/>
                </a:solidFill>
              </a:rPr>
              <a:t>고용노동부  지능정보화기획팀  ALL RIGHT RESERVED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공식 회의록 생성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1247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속기 중단 후 누적 데이터를 바탕으로 AI가 최종 회의록을 정리합니다.</a:t>
            </a:r>
            <a:endParaRPr lang="en-US" sz="1100" dirty="0"/>
          </a:p>
        </p:txBody>
      </p:sp>
      <p:pic>
        <p:nvPicPr>
          <p:cNvPr id="9" name="Image 0" descr="/home/claude/img_08_genera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6400800" cy="3218688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pic>
      <p:sp>
        <p:nvSpPr>
          <p:cNvPr id="10" name="Shape 7"/>
          <p:cNvSpPr/>
          <p:nvPr/>
        </p:nvSpPr>
        <p:spPr>
          <a:xfrm>
            <a:off x="7269480" y="1188720"/>
            <a:ext cx="45720" cy="6400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1188720"/>
            <a:ext cx="2377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397496" y="122529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● 회의록 생성 중 상태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397496" y="144475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상단 LIVE STATUS에 '회의록 생성 중' 표시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269480" y="1901952"/>
            <a:ext cx="45720" cy="64008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15200" y="1901952"/>
            <a:ext cx="2377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397496" y="193852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생성 프로세스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397496" y="21579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화자 정리 → 구조화 → 문서 정리 순으로 진행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269480" y="2615184"/>
            <a:ext cx="4572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15200" y="2615184"/>
            <a:ext cx="2377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397496" y="265176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💾 HTML / DOCX 저장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397496" y="287121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생성 완료 후 우측 상단에서 즉시 다운로드 가능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7269480" y="3273552"/>
            <a:ext cx="45720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315200" y="3273552"/>
            <a:ext cx="2377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397496" y="331012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회의록 탭 전환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397496" y="35295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공식·검수·쟁점·대외 문서를 탭으로 전환 확인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다우리AX  |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다;담</a:t>
            </a:r>
            <a:pPr indent="0" marL="0">
              <a:buNone/>
            </a:pPr>
            <a:r>
              <a:rPr lang="en-US" sz="1100" dirty="0">
                <a:solidFill>
                  <a:srgbClr val="AABFFF"/>
                </a:solidFill>
              </a:rPr>
              <a:t> 多談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128016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ABFFF"/>
                </a:solidFill>
              </a:rPr>
              <a:t>핵심 기능 | 추가 보고서 생성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B9FE8"/>
                </a:solidFill>
              </a:rPr>
              <a:t>고용노동부  지능정보화기획팀  ALL RIGHT RESERVED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추가 보고서 생성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1247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공식 회의록을 기반으로 목적별 보고서를 선택 생성합니다.</a:t>
            </a:r>
            <a:endParaRPr lang="en-US" sz="1100" dirty="0"/>
          </a:p>
        </p:txBody>
      </p:sp>
      <p:pic>
        <p:nvPicPr>
          <p:cNvPr id="9" name="Image 0" descr="/home/claude/img_09_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43000"/>
            <a:ext cx="5943600" cy="3410712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pic>
      <p:sp>
        <p:nvSpPr>
          <p:cNvPr id="10" name="Shape 7"/>
          <p:cNvSpPr/>
          <p:nvPr/>
        </p:nvSpPr>
        <p:spPr>
          <a:xfrm>
            <a:off x="6400800" y="1261872"/>
            <a:ext cx="242316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10528" y="1335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검수용 축약본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510528" y="159105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검수자가 핵심 발언과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검수 포인트를 빠르게 파악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400800" y="2231136"/>
            <a:ext cx="2423160" cy="804672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510528" y="23042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쟁점 요약본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510528" y="256032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회의 핵심 쟁점·입장 차이·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후속 검토 사항 정리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400800" y="3200400"/>
            <a:ext cx="2423160" cy="804672"/>
          </a:xfrm>
          <a:prstGeom prst="rect">
            <a:avLst/>
          </a:prstGeom>
          <a:solidFill>
            <a:srgbClr val="FDF4FF"/>
          </a:solidFill>
          <a:ln w="12700">
            <a:solidFill>
              <a:srgbClr val="933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510528" y="32735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대외 공유용 정리본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510528" y="352958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외부 공유·보고에 적합한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간결한 보고 형식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6177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8A"/>
                </a:solidFill>
              </a:rPr>
              <a:t>💡  선택한 보고서는 공식 회의록 생성본을 기준으로 순차 생성됩니다.  생성 후 상단 탭에서 확인·다운로드 가능합니다.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다우리AX  |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다;담</a:t>
            </a:r>
            <a:pPr indent="0" marL="0">
              <a:buNone/>
            </a:pPr>
            <a:r>
              <a:rPr lang="en-US" sz="1100" dirty="0">
                <a:solidFill>
                  <a:srgbClr val="AABFFF"/>
                </a:solidFill>
              </a:rPr>
              <a:t> 多談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128016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ABFFF"/>
                </a:solidFill>
              </a:rPr>
              <a:t>사용자 유의사항 · FAQ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B9FE8"/>
                </a:solidFill>
              </a:rPr>
              <a:t>고용노동부  지능정보화기획팀  ALL RIGHT RESERVED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유의사항 및 자주 묻는 질문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" y="1261872"/>
            <a:ext cx="4023360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2336" y="144475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✏️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335024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회의 정보는 정확하게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159105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프로젝트명·일자는 파일명·회의록 제목으로 사용됨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066544"/>
            <a:ext cx="4023360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2336" y="224942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213969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용어사전 사전 점검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23957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인명·기관명·법안명은 미리 등록 권장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871216"/>
            <a:ext cx="4023360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02336" y="305409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🎙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294436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녹음 상태 확인 필수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2004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속기 시작 전 마이크 입력 장치 정상 여부 점검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675888"/>
            <a:ext cx="4023360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02336" y="385876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374904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최종 산출물 사람 검토 권장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40050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AI 회의록 생성 후 배포 전 담당자 검토 권장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0" y="12070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FAQ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1481328"/>
            <a:ext cx="4251960" cy="676656"/>
          </a:xfrm>
          <a:prstGeom prst="rect">
            <a:avLst/>
          </a:prstGeom>
          <a:solidFill>
            <a:srgbClr val="EFF6FF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81728" y="154533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</a:rPr>
              <a:t>Q.  작업 중 중단되면?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81728" y="1792224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A.  최근 작업 또는 저장된 프로젝트에서 다시 불러와 이어서 작업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0" y="2286000"/>
            <a:ext cx="4251960" cy="676656"/>
          </a:xfrm>
          <a:prstGeom prst="rect">
            <a:avLst/>
          </a:prstGeom>
          <a:solidFill>
            <a:srgbClr val="EFF6FF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81728" y="235000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</a:rPr>
              <a:t>Q.  특정 발언을 빠르게 찾으려면?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81728" y="2596896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A.  패널 상단 [검색] 버튼 → 검색어 입력 → 이전/다음 탐색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0" y="3090672"/>
            <a:ext cx="4251960" cy="676656"/>
          </a:xfrm>
          <a:prstGeom prst="rect">
            <a:avLst/>
          </a:prstGeom>
          <a:solidFill>
            <a:srgbClr val="EFF6FF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81728" y="315468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</a:rPr>
              <a:t>Q.  키워드 등장 시 놓치지 않으려면?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81728" y="3401568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A.  [키워드 알림] 기능으로 미리 등록 → 자동 강조·배지 표시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0" y="3895344"/>
            <a:ext cx="4251960" cy="676656"/>
          </a:xfrm>
          <a:prstGeom prst="rect">
            <a:avLst/>
          </a:prstGeom>
          <a:solidFill>
            <a:srgbClr val="EFF6FF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81728" y="395935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</a:rPr>
              <a:t>Q.  음성 들으면서 속기 확인 가능?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81728" y="4206240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A.  타임스탬프 클릭 → 음성·원문·교정 패널 3단 동시 이동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다우리AX | 다;담 사용자 교육자료</dc:title>
  <dc:subject>PptxGenJS Presentation</dc:subject>
  <dc:creator>PptxGenJS</dc:creator>
  <cp:lastModifiedBy>PptxGenJS</cp:lastModifiedBy>
  <cp:revision>1</cp:revision>
  <dcterms:created xsi:type="dcterms:W3CDTF">2026-04-02T01:01:56Z</dcterms:created>
  <dcterms:modified xsi:type="dcterms:W3CDTF">2026-04-02T01:01:56Z</dcterms:modified>
</cp:coreProperties>
</file>